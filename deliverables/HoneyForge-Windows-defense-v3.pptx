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31aec515e4867" /><Relationship Type="http://schemas.openxmlformats.org/officeDocument/2006/relationships/extended-properties" Target="/docProps/app.xml" Id="Rc902c5c059ca4dac" /><Relationship Type="http://schemas.openxmlformats.org/officeDocument/2006/relationships/officeDocument" Target="/ppt/presentation.xml" Id="Rf64dea4e5dbc48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4da7c17de4b13"/>
  </p:sldMasterIdLst>
  <p:notesMasterIdLst>
    <p:notesMasterId xmlns:r="http://schemas.openxmlformats.org/officeDocument/2006/relationships" r:id="R27772669b9ff4011"/>
  </p:notesMasterIdLst>
  <p:sldIdLst>
    <p:sldId xmlns:r="http://schemas.openxmlformats.org/officeDocument/2006/relationships" id="256" r:id="R803f1b8c888e4fcf"/>
    <p:sldId xmlns:r="http://schemas.openxmlformats.org/officeDocument/2006/relationships" id="257" r:id="Rab4742f39f384b83"/>
    <p:sldId xmlns:r="http://schemas.openxmlformats.org/officeDocument/2006/relationships" id="258" r:id="R484113b6be944bda"/>
    <p:sldId xmlns:r="http://schemas.openxmlformats.org/officeDocument/2006/relationships" id="259" r:id="R40b165d7cb5d455a"/>
    <p:sldId xmlns:r="http://schemas.openxmlformats.org/officeDocument/2006/relationships" id="260" r:id="R402a7a2cc71747f7"/>
    <p:sldId xmlns:r="http://schemas.openxmlformats.org/officeDocument/2006/relationships" id="261" r:id="Rc5d35a499a724702"/>
    <p:sldId xmlns:r="http://schemas.openxmlformats.org/officeDocument/2006/relationships" id="262" r:id="R57a41f28b3f24dce"/>
    <p:sldId xmlns:r="http://schemas.openxmlformats.org/officeDocument/2006/relationships" id="263" r:id="Rda86a80885bc4e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dec81ce5c94734" /><Relationship Type="http://schemas.openxmlformats.org/officeDocument/2006/relationships/slideMaster" Target="/ppt/slideMasters/slideMaster1.xml" Id="R58f4da7c17de4b13" /><Relationship Type="http://schemas.openxmlformats.org/officeDocument/2006/relationships/notesMaster" Target="/ppt/notesMasters/notesMaster1.xml" Id="R27772669b9ff4011" /><Relationship Type="http://schemas.openxmlformats.org/officeDocument/2006/relationships/presProps" Target="/ppt/presProps.xml" Id="Rf599e9096b5e49d5" /><Relationship Type="http://schemas.openxmlformats.org/officeDocument/2006/relationships/tableStyles" Target="/ppt/tableStyles.xml" Id="Rc83fd8eb416f436c" /><Relationship Type="http://schemas.openxmlformats.org/officeDocument/2006/relationships/slide" Target="/ppt/slides/slide1.xml" Id="R803f1b8c888e4fcf" /><Relationship Type="http://schemas.openxmlformats.org/officeDocument/2006/relationships/slide" Target="/ppt/slides/slide2.xml" Id="Rab4742f39f384b83" /><Relationship Type="http://schemas.openxmlformats.org/officeDocument/2006/relationships/slide" Target="/ppt/slides/slide3.xml" Id="R484113b6be944bda" /><Relationship Type="http://schemas.openxmlformats.org/officeDocument/2006/relationships/slide" Target="/ppt/slides/slide4.xml" Id="R40b165d7cb5d455a" /><Relationship Type="http://schemas.openxmlformats.org/officeDocument/2006/relationships/slide" Target="/ppt/slides/slide5.xml" Id="R402a7a2cc71747f7" /><Relationship Type="http://schemas.openxmlformats.org/officeDocument/2006/relationships/slide" Target="/ppt/slides/slide6.xml" Id="Rc5d35a499a724702" /><Relationship Type="http://schemas.openxmlformats.org/officeDocument/2006/relationships/slide" Target="/ppt/slides/slide7.xml" Id="R57a41f28b3f24dce" /><Relationship Type="http://schemas.openxmlformats.org/officeDocument/2006/relationships/slide" Target="/ppt/slides/slide8.xml" Id="Rda86a80885bc4e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1289449de94e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2be150b4e44926" /><Relationship Type="http://schemas.openxmlformats.org/officeDocument/2006/relationships/notesMaster" Target="/ppt/notesMasters/notesMaster1.xml" Id="R6a6a00cea21349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aa67f791584a14" /><Relationship Type="http://schemas.openxmlformats.org/officeDocument/2006/relationships/notesMaster" Target="/ppt/notesMasters/notesMaster1.xml" Id="R24a52948fd2f42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17bfd6fb6b4a9a" /><Relationship Type="http://schemas.openxmlformats.org/officeDocument/2006/relationships/notesMaster" Target="/ppt/notesMasters/notesMaster1.xml" Id="R2c7743e841e644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6c4890c52e4d66" /><Relationship Type="http://schemas.openxmlformats.org/officeDocument/2006/relationships/notesMaster" Target="/ppt/notesMasters/notesMaster1.xml" Id="Rfcc325242aa94d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444950e1524a22" /><Relationship Type="http://schemas.openxmlformats.org/officeDocument/2006/relationships/notesMaster" Target="/ppt/notesMasters/notesMaster1.xml" Id="Re88ee752b53e4a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be0b95abec4ecf" /><Relationship Type="http://schemas.openxmlformats.org/officeDocument/2006/relationships/notesMaster" Target="/ppt/notesMasters/notesMaster1.xml" Id="R640742af086d4b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052eeb64474082" /><Relationship Type="http://schemas.openxmlformats.org/officeDocument/2006/relationships/notesMaster" Target="/ppt/notesMasters/notesMaster1.xml" Id="Rd376d1d0d51c41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6b44002d95403c" /><Relationship Type="http://schemas.openxmlformats.org/officeDocument/2006/relationships/notesMaster" Target="/ppt/notesMasters/notesMaster1.xml" Id="R564de08397a9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0:00–0:15. Централизованный конструктор реалистичных ловушек. Показываем полный цикл наблюдения и реакции.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0:15–0:35. Настраиваем сервис, баннер, файлы, фиктивные аккаунты и запись. Публикация неизменяема, новый запуск требует явного redeploy. Скриншот конструктора: 53-editor-wide-final.png. Preview подписан локальным и не выдаётся за настоящую атаку.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0:35–1:00. Это редактируемая архитектурная схема, а не рисунок. Доверенный сенсор работает вне приманки. Docker socket и управляющие секреты остаются снаружи. Доказательство: masking.json. Management namespace — логическое разделение в лаборатории, не физический OOB.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1:00–1:35. Показать реальную SSH-сессию на выделенной лабораторной VM, затем живой плеер. Cowrie shell — эмуляция, не High. Скриншот 31-player-output-final.png, реакция подтверждается session-termination.json.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1:35–1:55. SFTP принят реально, файл совпадает по SHA-256. PCAP содержит сетевые bytes, чувствительные structured observations зашифрованы до stdout. Скриншот 37-real-artifacts.png. foundation.json, binary-evidence.json, test_evidence.py.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1:55–2:15. TLS проверяет цепочку и hostname. Неправильный сертификат отклонён. Внутренние agent/docs маршруты недоступны извне. Новый исходящий трафик ловушек заблокирован внешними правилами. Proof: foundation.json / masking.json / certificates.json / client-tls.json. Standard Caddy TLS directives: https://caddyserver.com/docs/caddyfile/directives/tls. Нейтральная служба не гарантирует абсолютную нераспознаваемость.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2:15–2:40. Показывать только завершённые proof JSON. sustained load измеряется отдельно, незавершённый или failed run не считается достижением. Browser measurement: DOM/layout viewport, не физическая отрисовка. Sampling and unseen_paths сохраняются явно; p95 относится к показанным строкам, не к гарантии отображения всей истории.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2:40–3:00. Cowrie поставляет SSH/SFTP и shell. Наша работа — собственные Low/HTTP сенсоры, immutable versions, remote orchestration, scoped evidence/crypto, durable delivery, реакции и UI. Нейросетей в продукте нет. High требует отдельного KVM-хоста. Личность по IP и облачный SLA не заявляем. Сторонние компоненты: docs/THIRD_PARTY.json.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23002653e4e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2c1f7211f4a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01150c9584c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d8a781cf94d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00b7eeadc4d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d6a12bbef40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CF1939-83AA-4AA5-8A63-867646CF6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4B129A-F705-4864-B70A-399F1DC392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269D2E-0994-4326-B176-C10DEB4F8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694B2E-51C8-428E-BD28-7D1D9B9C0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D913A9-BA4A-495D-8BBC-94A6C9C650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875DBC-C657-4D9E-A48A-C6C7CA2F9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44CA12-6FF8-40A5-AD88-2B8ADD4E4C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C86DED-A062-46CD-AD08-EBB289E3E9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799B1C-71F6-44A9-87A6-2CB1F167C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9A40F0-EE31-489D-832F-7D3AA278B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c37e97b40a4e5f" /><Relationship Type="http://schemas.openxmlformats.org/officeDocument/2006/relationships/slideLayout" Target="/ppt/slideLayouts/slideLayout1.xml" Id="R542905e89f6d40ab" /><Relationship Type="http://schemas.openxmlformats.org/officeDocument/2006/relationships/slideLayout" Target="/ppt/slideLayouts/slideLayout2.xml" Id="Rfc92ae3b967f4178" /><Relationship Type="http://schemas.openxmlformats.org/officeDocument/2006/relationships/slideLayout" Target="/ppt/slideLayouts/slideLayout3.xml" Id="Ra31650e5293240af" /><Relationship Type="http://schemas.openxmlformats.org/officeDocument/2006/relationships/slideLayout" Target="/ppt/slideLayouts/slideLayout4.xml" Id="R5acf00f77ad149fe" /><Relationship Type="http://schemas.openxmlformats.org/officeDocument/2006/relationships/slideLayout" Target="/ppt/slideLayouts/slideLayout5.xml" Id="R3e9d5a4f02b64160" /><Relationship Type="http://schemas.openxmlformats.org/officeDocument/2006/relationships/slideLayout" Target="/ppt/slideLayouts/slideLayout6.xml" Id="Rfd5e0c887cd549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2905e89f6d40ab"/>
    <p:sldLayoutId xmlns:r="http://schemas.openxmlformats.org/officeDocument/2006/relationships" id="2147483650" r:id="Rfc92ae3b967f4178"/>
    <p:sldLayoutId xmlns:r="http://schemas.openxmlformats.org/officeDocument/2006/relationships" id="2147483651" r:id="Ra31650e5293240af"/>
    <p:sldLayoutId xmlns:r="http://schemas.openxmlformats.org/officeDocument/2006/relationships" id="2147483652" r:id="R5acf00f77ad149fe"/>
    <p:sldLayoutId xmlns:r="http://schemas.openxmlformats.org/officeDocument/2006/relationships" id="2147483653" r:id="R3e9d5a4f02b64160"/>
    <p:sldLayoutId xmlns:r="http://schemas.openxmlformats.org/officeDocument/2006/relationships" id="2147483654" r:id="Rfd5e0c887cd549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3bba072e50464f" /><Relationship Type="http://schemas.openxmlformats.org/officeDocument/2006/relationships/notesSlide" Target="/ppt/notesSlides/notesSlide1.xml" Id="Rf18af0e5c2f041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3d140471f407c" /><Relationship Type="http://schemas.openxmlformats.org/officeDocument/2006/relationships/image" Target="/ppt/media/image.png" Id="Rad0a1b22f44241a6" /><Relationship Type="http://schemas.openxmlformats.org/officeDocument/2006/relationships/notesSlide" Target="/ppt/notesSlides/notesSlide2.xml" Id="R8d6cb5b8ec4e47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e54cd59c8487f" /><Relationship Type="http://schemas.openxmlformats.org/officeDocument/2006/relationships/notesSlide" Target="/ppt/notesSlides/notesSlide3.xml" Id="R1bc21c719aee4a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afc4727a24fb8" /><Relationship Type="http://schemas.openxmlformats.org/officeDocument/2006/relationships/image" Target="/ppt/media/image.jpeg" Id="R70b547dd44e34806" /><Relationship Type="http://schemas.openxmlformats.org/officeDocument/2006/relationships/notesSlide" Target="/ppt/notesSlides/notesSlide4.xml" Id="Rfe9b5786aec540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43873737348ae" /><Relationship Type="http://schemas.openxmlformats.org/officeDocument/2006/relationships/image" Target="/ppt/media/image2.jpeg" Id="Ra133fc8f43364557" /><Relationship Type="http://schemas.openxmlformats.org/officeDocument/2006/relationships/notesSlide" Target="/ppt/notesSlides/notesSlide5.xml" Id="R026e8569b75a44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c99debcbf84f27" /><Relationship Type="http://schemas.openxmlformats.org/officeDocument/2006/relationships/notesSlide" Target="/ppt/notesSlides/notesSlide6.xml" Id="Ra61ecc10ac524c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b5a52a1c148c0" /><Relationship Type="http://schemas.openxmlformats.org/officeDocument/2006/relationships/notesSlide" Target="/ppt/notesSlides/notesSlide7.xml" Id="R25a503af26bc4a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d85ba3e154ed7" /><Relationship Type="http://schemas.openxmlformats.org/officeDocument/2006/relationships/notesSlide" Target="/ppt/notesSlides/notesSlide8.xml" Id="R29e8e5a7d22a47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5F2F4-6984-4370-9044-4CA9DA4A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HoneyForge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AD886-89E9-45AF-B822-FBDCE078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Конструктор и центр управления</a:t>
            </a:r>
          </a:p>
          <a:p xmlns:a="http://schemas.openxmlformats.org/drawingml/2006/main">
            <a:pPr>
              <a:buNone/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реалистичными ловушками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36BD-2B3E-4F36-B3F7-B42F55A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Профили, удалённые сенсоры, события в реальном времени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432EB-C5AB-41F1-A8C3-F52A60BD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UmirHack · кейс «Мадригал» · 16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764170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A5D5D-8634-4CA3-BCC6-B3CE9AE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Задача кейса и наше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10DD7-B258-492A-B8FA-9E8561CB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Цель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45609-7DD5-4E22-9B59-7FFA708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524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Единые профили и удалённый запуск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 и Medium на отдельном сенсоре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События и сессии в одной панели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Скрытый канал управления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Справа: конструктор прежнего стенда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4D63D-BD8F-4DA1-9E63-88F68D441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a1b22f44241a6"/>
          <a:stretch xmlns:a="http://schemas.openxmlformats.org/drawingml/2006/main"/>
        </p:blipFill>
        <p:spPr>
          <a:xfrm xmlns:a="http://schemas.openxmlformats.org/drawingml/2006/main">
            <a:off x="4797425" y="1714500"/>
            <a:ext cx="65024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68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CBC85-B48F-4AD0-A450-8BEC43A2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Три контура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9A0AD-BA01-4C5D-A414-578A0BCB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Приманка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4753D-E392-41E5-94BD-5B912B15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 TCP / Medium HTTP, SSH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Учебные данные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Без доступа к ОС сенсора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23D64-8B97-4AB4-B5A5-CCBE77F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Сенсор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DD220-8B13-412D-B8C4-7FF623B4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Ubuntu VM / агент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Локальная очередь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Контейнеры приманок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7F816-05AF-4C10-A4D8-C920F72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587D2-6A62-4963-B11D-464C2828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FastAPI / PostgreSQL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Профили и события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Веб-интерфейс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D1509-AA9D-45C2-8917-D23ADBF6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C4D50-F49F-495E-AACE-B746CA6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8154E-27AD-4096-B398-975B54E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Контакты и команды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58EA8-AB82-48A1-9192-644FD48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HTTPS / mTLS / client 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6FBDD-FEDB-4416-A6E0-9C9EA98B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SSE в интерфейс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D7592-8589-4A66-A034-02578C07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Атакующий видит сервис-приманку; управление остаётся вне её контейнера.</a:t>
            </a:r>
          </a:p>
        </p:txBody>
      </p:sp>
    </p:spTree>
    <p:extLst>
      <p:ext uri="{BB962C8B-B14F-4D97-AF65-F5344CB8AC3E}">
        <p14:creationId xmlns:p14="http://schemas.microsoft.com/office/powerpoint/2010/main" val="1656741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F6E55-1897-438F-A0E4-987255B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Уровни взаимодействия и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11E65-D6A2-40F8-B566-1D7245E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Low / Medium / High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2B02A-107F-45A7-8C36-A8CC3376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Low: баннер, источник и время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Medium: запросы, входы, команды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High: настоящая ОС (бонус)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Для зачёта достаточно Low и Medium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Справа: плеер прежнего стенда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18DDB-E79F-4B29-A1B0-5117297B0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547dd44e34806"/>
          <a:stretch xmlns:a="http://schemas.openxmlformats.org/drawingml/2006/main"/>
        </p:blipFill>
        <p:spPr>
          <a:xfrm xmlns:a="http://schemas.openxmlformats.org/drawingml/2006/main">
            <a:off x="4572000" y="2044898"/>
            <a:ext cx="6953250" cy="3911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39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2885C-E4F7-4282-9F54-D3C395F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От контакта до события в центре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BFC83-B188-4D41-917B-50EBC990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Событие и сессия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F47B5-78C6-4F69-9253-9FFA6AC3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Клиент подключается к ловушке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Сенсор записывает действие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Очередь доставляет данные центру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Центр хранит событие и сессию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Панель показывает их оператору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Справа: прежний стенд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5FB92-3A9E-4127-B0AD-C0E7F64D04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3fc8f43364557"/>
          <a:stretch xmlns:a="http://schemas.openxmlformats.org/drawingml/2006/main"/>
        </p:blipFill>
        <p:spPr>
          <a:xfrm xmlns:a="http://schemas.openxmlformats.org/drawingml/2006/main">
            <a:off x="4572000" y="2044898"/>
            <a:ext cx="6953250" cy="3911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6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DFD59-9DAA-4F13-B5AF-C1BAED3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Как маскируется канал управления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2C3EE-0707-4FC4-9BA1-C543FBA2583B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619625"/>
                <a:gridCol w="44005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Контроль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Реализация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Канал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HTTPS, CA и имя сервера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Неверный CA отклоняется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Маршрут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/assets/sync/v1, static root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/agent и docs закрыты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Сеть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Management route вне контейнеров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Host / neighbor / Internet запрещены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Секреты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AES-GCM и RSA-OAEP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 пароля в outbox и stdout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Сенсоры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Индивидуальная mTLS identity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Ротация + реальные 300 секунд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79208-1880-460F-AE67-6F315E6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Отдельный путь, TLS и агент вне приманки. Абсолютную скрытность не обещаем.</a:t>
            </a:r>
          </a:p>
        </p:txBody>
      </p:sp>
    </p:spTree>
    <p:extLst>
      <p:ext uri="{BB962C8B-B14F-4D97-AF65-F5344CB8AC3E}">
        <p14:creationId xmlns:p14="http://schemas.microsoft.com/office/powerpoint/2010/main" val="572644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3CE20-A18C-4259-A0DC-042237A3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Живой сценарий на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017A6-3658-4BE6-8B21-1C942C1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Windows + Ubuntu 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433D4-719D-4FCE-9963-BFDBC5F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66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 :2223 возвращает баннер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HTTP :18080 отвечает 200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SSH :2222 принимает команды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Затем: новое событие и сессия в панели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F5BFB-73C9-4933-896F-1A23C90C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После удаления High сенсор online; Low и Medium проверены, три ловушки running/succeeded.</a:t>
            </a:r>
          </a:p>
        </p:txBody>
      </p:sp>
    </p:spTree>
    <p:extLst>
      <p:ext uri="{BB962C8B-B14F-4D97-AF65-F5344CB8AC3E}">
        <p14:creationId xmlns:p14="http://schemas.microsoft.com/office/powerpoint/2010/main" val="476308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B9870-106F-45E7-8786-E387D82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Итог по требованиям кейса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05B95-9CFD-4F96-AE61-59AF01FD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347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Профили, удалённый запуск и статусы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 TCP и Medium HTTP/SSH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Двусторонний обмен и локальная очередь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События, сессии и интерфейс разбора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Маскировка управляющего канала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9FBA-ADED-46B6-A130-35E6CD55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Далее: внешнее развёртывание и проверка масштаба.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B195A-F4B8-4FA0-8165-C59BB5F6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850819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2026-10-16T08:01:49.5720000Z</dcterms:created>
  <dcterms:modified xsi:type="dcterms:W3CDTF">2026-10-16T08:01:49.5720000Z</dcterms:modified>
</coreProperties>
</file>