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874d649de94ca0" /><Relationship Type="http://schemas.openxmlformats.org/officeDocument/2006/relationships/extended-properties" Target="/docProps/app.xml" Id="R913583b5bfc2426c" /><Relationship Type="http://schemas.openxmlformats.org/officeDocument/2006/relationships/officeDocument" Target="/ppt/presentation.xml" Id="Ra1a524934a5947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2c468ee0d14112"/>
  </p:sldMasterIdLst>
  <p:notesMasterIdLst>
    <p:notesMasterId xmlns:r="http://schemas.openxmlformats.org/officeDocument/2006/relationships" r:id="R690159d93abb4420"/>
  </p:notesMasterIdLst>
  <p:sldIdLst>
    <p:sldId xmlns:r="http://schemas.openxmlformats.org/officeDocument/2006/relationships" id="256" r:id="Rfbebc5d751494391"/>
    <p:sldId xmlns:r="http://schemas.openxmlformats.org/officeDocument/2006/relationships" id="257" r:id="R4d8ffc8b242247d4"/>
    <p:sldId xmlns:r="http://schemas.openxmlformats.org/officeDocument/2006/relationships" id="258" r:id="R13342b71f14a4f64"/>
    <p:sldId xmlns:r="http://schemas.openxmlformats.org/officeDocument/2006/relationships" id="259" r:id="R8e9e9fbdd9e04475"/>
    <p:sldId xmlns:r="http://schemas.openxmlformats.org/officeDocument/2006/relationships" id="260" r:id="Rf1e99c6501334fe5"/>
    <p:sldId xmlns:r="http://schemas.openxmlformats.org/officeDocument/2006/relationships" id="261" r:id="Rd444a7d8d22b4642"/>
    <p:sldId xmlns:r="http://schemas.openxmlformats.org/officeDocument/2006/relationships" id="262" r:id="R6a1828f8943e48da"/>
    <p:sldId xmlns:r="http://schemas.openxmlformats.org/officeDocument/2006/relationships" id="263" r:id="R704e6da2f2654a94"/>
    <p:sldId xmlns:r="http://schemas.openxmlformats.org/officeDocument/2006/relationships" id="264" r:id="Re3cacc6740b24ebd"/>
    <p:sldId xmlns:r="http://schemas.openxmlformats.org/officeDocument/2006/relationships" id="265" r:id="Ra6e21d6bc73d443b"/>
    <p:sldId xmlns:r="http://schemas.openxmlformats.org/officeDocument/2006/relationships" id="266" r:id="R9b86e51927e8466d"/>
    <p:sldId xmlns:r="http://schemas.openxmlformats.org/officeDocument/2006/relationships" id="267" r:id="Rc1798607ecdb4488"/>
    <p:sldId xmlns:r="http://schemas.openxmlformats.org/officeDocument/2006/relationships" id="268" r:id="Rf8f83cb87f134059"/>
    <p:sldId xmlns:r="http://schemas.openxmlformats.org/officeDocument/2006/relationships" id="269" r:id="R85a173d98bf74b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997828577246eb" /><Relationship Type="http://schemas.openxmlformats.org/officeDocument/2006/relationships/slideMaster" Target="/ppt/slideMasters/slideMaster1.xml" Id="Rfc2c468ee0d14112" /><Relationship Type="http://schemas.openxmlformats.org/officeDocument/2006/relationships/notesMaster" Target="/ppt/notesMasters/notesMaster1.xml" Id="R690159d93abb4420" /><Relationship Type="http://schemas.openxmlformats.org/officeDocument/2006/relationships/presProps" Target="/ppt/presProps.xml" Id="R2c02f7ba1d824b61" /><Relationship Type="http://schemas.openxmlformats.org/officeDocument/2006/relationships/tableStyles" Target="/ppt/tableStyles.xml" Id="Rf5948f7b05ef481d" /><Relationship Type="http://schemas.openxmlformats.org/officeDocument/2006/relationships/slide" Target="/ppt/slides/slide1.xml" Id="Rfbebc5d751494391" /><Relationship Type="http://schemas.openxmlformats.org/officeDocument/2006/relationships/slide" Target="/ppt/slides/slide2.xml" Id="R4d8ffc8b242247d4" /><Relationship Type="http://schemas.openxmlformats.org/officeDocument/2006/relationships/slide" Target="/ppt/slides/slide3.xml" Id="R13342b71f14a4f64" /><Relationship Type="http://schemas.openxmlformats.org/officeDocument/2006/relationships/slide" Target="/ppt/slides/slide4.xml" Id="R8e9e9fbdd9e04475" /><Relationship Type="http://schemas.openxmlformats.org/officeDocument/2006/relationships/slide" Target="/ppt/slides/slide5.xml" Id="Rf1e99c6501334fe5" /><Relationship Type="http://schemas.openxmlformats.org/officeDocument/2006/relationships/slide" Target="/ppt/slides/slide6.xml" Id="Rd444a7d8d22b4642" /><Relationship Type="http://schemas.openxmlformats.org/officeDocument/2006/relationships/slide" Target="/ppt/slides/slide7.xml" Id="R6a1828f8943e48da" /><Relationship Type="http://schemas.openxmlformats.org/officeDocument/2006/relationships/slide" Target="/ppt/slides/slide8.xml" Id="R704e6da2f2654a94" /><Relationship Type="http://schemas.openxmlformats.org/officeDocument/2006/relationships/slide" Target="/ppt/slides/slide9.xml" Id="Re3cacc6740b24ebd" /><Relationship Type="http://schemas.openxmlformats.org/officeDocument/2006/relationships/slide" Target="/ppt/slides/slide10.xml" Id="Ra6e21d6bc73d443b" /><Relationship Type="http://schemas.openxmlformats.org/officeDocument/2006/relationships/slide" Target="/ppt/slides/slide11.xml" Id="R9b86e51927e8466d" /><Relationship Type="http://schemas.openxmlformats.org/officeDocument/2006/relationships/slide" Target="/ppt/slides/slide12.xml" Id="Rc1798607ecdb4488" /><Relationship Type="http://schemas.openxmlformats.org/officeDocument/2006/relationships/slide" Target="/ppt/slides/slide13.xml" Id="Rf8f83cb87f134059" /><Relationship Type="http://schemas.openxmlformats.org/officeDocument/2006/relationships/slide" Target="/ppt/slides/slide14.xml" Id="R85a173d98bf74b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4c7cd43fb246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7cda11ab4a4f18" /><Relationship Type="http://schemas.openxmlformats.org/officeDocument/2006/relationships/notesMaster" Target="/ppt/notesMasters/notesMaster1.xml" Id="R7a530e9381af44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bf96f3bd74b77" /><Relationship Type="http://schemas.openxmlformats.org/officeDocument/2006/relationships/notesMaster" Target="/ppt/notesMasters/notesMaster1.xml" Id="R5d2f512d314648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6aa488010b4722" /><Relationship Type="http://schemas.openxmlformats.org/officeDocument/2006/relationships/notesMaster" Target="/ppt/notesMasters/notesMaster1.xml" Id="R402481a5db9046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4f0c1ee4de4821" /><Relationship Type="http://schemas.openxmlformats.org/officeDocument/2006/relationships/notesMaster" Target="/ppt/notesMasters/notesMaster1.xml" Id="R773c9ab2088f44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8080cbf0334801" /><Relationship Type="http://schemas.openxmlformats.org/officeDocument/2006/relationships/notesMaster" Target="/ppt/notesMasters/notesMaster1.xml" Id="R40799fbd8f5e4d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0213821e804aa5" /><Relationship Type="http://schemas.openxmlformats.org/officeDocument/2006/relationships/notesMaster" Target="/ppt/notesMasters/notesMaster1.xml" Id="Rf9601db041f149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4fcecbaa5341ca" /><Relationship Type="http://schemas.openxmlformats.org/officeDocument/2006/relationships/notesMaster" Target="/ppt/notesMasters/notesMaster1.xml" Id="Re623e8f3181447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6752a5f8a445c2" /><Relationship Type="http://schemas.openxmlformats.org/officeDocument/2006/relationships/notesMaster" Target="/ppt/notesMasters/notesMaster1.xml" Id="R0ca7f149dc7f41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05325e2d68432b" /><Relationship Type="http://schemas.openxmlformats.org/officeDocument/2006/relationships/notesMaster" Target="/ppt/notesMasters/notesMaster1.xml" Id="R010cc10be56a4a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51376f10ba457a" /><Relationship Type="http://schemas.openxmlformats.org/officeDocument/2006/relationships/notesMaster" Target="/ppt/notesMasters/notesMaster1.xml" Id="Rb8fa2174a3a14a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a950858cf7479b" /><Relationship Type="http://schemas.openxmlformats.org/officeDocument/2006/relationships/notesMaster" Target="/ppt/notesMasters/notesMaster1.xml" Id="R103645d253394f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74d75a49ee434c" /><Relationship Type="http://schemas.openxmlformats.org/officeDocument/2006/relationships/notesMaster" Target="/ppt/notesMasters/notesMaster1.xml" Id="R537270cd8c7f4b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f53a8c91804f66" /><Relationship Type="http://schemas.openxmlformats.org/officeDocument/2006/relationships/notesMaster" Target="/ppt/notesMasters/notesMaster1.xml" Id="Ra04c4481dd9d41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773ae62e954665" /><Relationship Type="http://schemas.openxmlformats.org/officeDocument/2006/relationships/notesMaster" Target="/ppt/notesMasters/notesMaster1.xml" Id="Re370e18d6c3445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5a7bde16649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efb54913a46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2d69e488c4d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96d4a6b1543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3db02b2384a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324f6b2f94f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C2BE5A-E4A0-4912-B371-8B68D45172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E7B648-0DF2-4B0E-ADBE-E03494AA9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4BD694-D6DB-44C7-9CF8-E0698EC3F0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C8E3C8-C7F8-4963-9D62-53016950EF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3A8293-54DA-4ED1-952D-0F14853E0C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48B4EC-D6B2-4964-828F-2853934A8A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9A2B42-443C-4BCC-857E-CB6E654F7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75F22F-0B3F-498C-AF3E-DA42873E52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F67C15-B66E-45D2-A036-254475BA6F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20639A-49A5-42B3-A2BC-5F45D90703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7fcc49eea4f4a" /><Relationship Type="http://schemas.openxmlformats.org/officeDocument/2006/relationships/slideLayout" Target="/ppt/slideLayouts/slideLayout1.xml" Id="R1d9e5623c0404a23" /><Relationship Type="http://schemas.openxmlformats.org/officeDocument/2006/relationships/slideLayout" Target="/ppt/slideLayouts/slideLayout2.xml" Id="R20400c23cf5d46b5" /><Relationship Type="http://schemas.openxmlformats.org/officeDocument/2006/relationships/slideLayout" Target="/ppt/slideLayouts/slideLayout3.xml" Id="R0e6799f03c854f3c" /><Relationship Type="http://schemas.openxmlformats.org/officeDocument/2006/relationships/slideLayout" Target="/ppt/slideLayouts/slideLayout4.xml" Id="R9f5853c7f6c7486c" /><Relationship Type="http://schemas.openxmlformats.org/officeDocument/2006/relationships/slideLayout" Target="/ppt/slideLayouts/slideLayout5.xml" Id="Rd1c8e332e0c749d9" /><Relationship Type="http://schemas.openxmlformats.org/officeDocument/2006/relationships/slideLayout" Target="/ppt/slideLayouts/slideLayout6.xml" Id="Rbadcbdcf4a194d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9e5623c0404a23"/>
    <p:sldLayoutId xmlns:r="http://schemas.openxmlformats.org/officeDocument/2006/relationships" id="2147483650" r:id="R20400c23cf5d46b5"/>
    <p:sldLayoutId xmlns:r="http://schemas.openxmlformats.org/officeDocument/2006/relationships" id="2147483651" r:id="R0e6799f03c854f3c"/>
    <p:sldLayoutId xmlns:r="http://schemas.openxmlformats.org/officeDocument/2006/relationships" id="2147483652" r:id="R9f5853c7f6c7486c"/>
    <p:sldLayoutId xmlns:r="http://schemas.openxmlformats.org/officeDocument/2006/relationships" id="2147483653" r:id="Rd1c8e332e0c749d9"/>
    <p:sldLayoutId xmlns:r="http://schemas.openxmlformats.org/officeDocument/2006/relationships" id="2147483654" r:id="Rbadcbdcf4a194d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ea3a7ce8b4eec" /><Relationship Type="http://schemas.openxmlformats.org/officeDocument/2006/relationships/notesSlide" Target="/ppt/notesSlides/notesSlide1.xml" Id="Rb6ff61eb2abe43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f630f6c864349" /><Relationship Type="http://schemas.openxmlformats.org/officeDocument/2006/relationships/notesSlide" Target="/ppt/notesSlides/notesSlide2.xml" Id="Re42cc4ef91124f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06303c6334efa" /><Relationship Type="http://schemas.openxmlformats.org/officeDocument/2006/relationships/notesSlide" Target="/ppt/notesSlides/notesSlide3.xml" Id="Rb54aa94ed6c842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9726b842249f0" /><Relationship Type="http://schemas.openxmlformats.org/officeDocument/2006/relationships/notesSlide" Target="/ppt/notesSlides/notesSlide4.xml" Id="R55fc4b67de0548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80514fc24426d" /><Relationship Type="http://schemas.openxmlformats.org/officeDocument/2006/relationships/notesSlide" Target="/ppt/notesSlides/notesSlide5.xml" Id="Rda290cd0196244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9e79743894ce8" /><Relationship Type="http://schemas.openxmlformats.org/officeDocument/2006/relationships/notesSlide" Target="/ppt/notesSlides/notesSlide6.xml" Id="R505b8104e9aa43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3ea494e7a487f" /><Relationship Type="http://schemas.openxmlformats.org/officeDocument/2006/relationships/notesSlide" Target="/ppt/notesSlides/notesSlide7.xml" Id="Rdf482df5bb8147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9bb9ef7604b3f" /><Relationship Type="http://schemas.openxmlformats.org/officeDocument/2006/relationships/notesSlide" Target="/ppt/notesSlides/notesSlide8.xml" Id="R5fffd87965ef4a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13ea7a2e04298" /><Relationship Type="http://schemas.openxmlformats.org/officeDocument/2006/relationships/notesSlide" Target="/ppt/notesSlides/notesSlide9.xml" Id="R7474486d990141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9ba398dc5483b" /><Relationship Type="http://schemas.openxmlformats.org/officeDocument/2006/relationships/notesSlide" Target="/ppt/notesSlides/notesSlide10.xml" Id="R8e757351550d4f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75884283cf4774" /><Relationship Type="http://schemas.openxmlformats.org/officeDocument/2006/relationships/notesSlide" Target="/ppt/notesSlides/notesSlide11.xml" Id="Ra03d1fa44bbd41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106cd04644e5f" /><Relationship Type="http://schemas.openxmlformats.org/officeDocument/2006/relationships/notesSlide" Target="/ppt/notesSlides/notesSlide12.xml" Id="R76c5e91c839747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5e219a3e44bd0" /><Relationship Type="http://schemas.openxmlformats.org/officeDocument/2006/relationships/notesSlide" Target="/ppt/notesSlides/notesSlide13.xml" Id="R83877b94d59e49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80aebe1974b43" /><Relationship Type="http://schemas.openxmlformats.org/officeDocument/2006/relationships/notesSlide" Target="/ppt/notesSlides/notesSlide14.xml" Id="Rc30a69f643924f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502A6-EFE6-4BED-9EA8-32596B53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1238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55654-8E27-4657-98E3-EB0D155D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858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1FAF8"/>
                </a:solidFill>
              </a:defRPr>
            </a:pPr>
            <a:r>
              <a:rPr sz="4650" b="1">
                <a:solidFill>
                  <a:srgbClr val="F1FAF8"/>
                </a:solidFill>
              </a:rPr>
              <a:t>HoneyForge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332A6-736F-447B-9705-632960B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1FAF8"/>
                </a:solidFill>
              </a:defRPr>
            </a:pPr>
            <a:r>
              <a:rPr sz="3150" b="1">
                <a:solidFill>
                  <a:srgbClr val="F1FAF8"/>
                </a:solidFill>
              </a:rPr>
              <a:t>Центр управления ловушками и наблюдениями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A86D1-0CAC-403E-878A-038B7187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9CDD0"/>
                </a:solidFill>
              </a:defRPr>
            </a:pPr>
            <a:r>
              <a:rPr sz="1875" b="0">
                <a:solidFill>
                  <a:srgbClr val="B9CDD0"/>
                </a:solidFill>
              </a:rPr>
              <a:t>Low · Medium · High     Защищённая телеметрия     Расследование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DAFED-0A54-47E7-BEA2-332969AF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42D7B8"/>
                </a:solidFill>
              </a:defRPr>
            </a:pPr>
            <a:r>
              <a:rPr sz="1650" b="1">
                <a:solidFill>
                  <a:srgbClr val="42D7B8"/>
                </a:solidFill>
              </a:rPr>
              <a:t>Команда Uni  ·  кейс «Мадригал»  ·  2026</a:t>
            </a:r>
          </a:p>
        </p:txBody>
      </p:sp>
    </p:spTree>
    <p:extLst>
      <p:ext uri="{BB962C8B-B14F-4D97-AF65-F5344CB8AC3E}">
        <p14:creationId xmlns:p14="http://schemas.microsoft.com/office/powerpoint/2010/main" val="37989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A3232-DDCC-4912-9895-FAA2E325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Задача и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EDCBE-86DF-4735-BC21-4387C6A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8FA62-5301-4F40-BFFB-8C8C7524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Из PDF: массовое управление реалистичными ловушками и скрытый канал связи с центром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18B88-FCCD-4957-85B3-AE36DE84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55B19-92E3-4894-9C5C-657780D6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D784C-C69B-4BE3-BA35-539694BE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8D482-D613-4F60-93F2-1088DAF7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3837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Проблема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E67A3-2C2C-410C-A627-E18A3725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9080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Отдельные ловушки сложно обновлять, собирать в единую картину и защищать от обнаружения.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C23E3-938F-4B5C-9C8B-7F32209F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77A61-42E6-4E55-862B-21A7521F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7662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Наш подход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83232-2501-4BEC-A59B-AB4DC08A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Одна панель управляет профилями и хостами; агент доставляет наблюдения из изолированной среды.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A4968-5455-4442-99CA-DEEA803C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1B016-D315-4DAD-AD9F-40776052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71487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Результат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07E50-E7DF-4B53-B1CD-8D296EB2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06730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Оператор проходит путь от настройки приманки до события, сессии, доказательства и реакции.</a:t>
            </a:r>
          </a:p>
        </p:txBody>
      </p:sp>
    </p:spTree>
    <p:extLst>
      <p:ext uri="{BB962C8B-B14F-4D97-AF65-F5344CB8AC3E}">
        <p14:creationId xmlns:p14="http://schemas.microsoft.com/office/powerpoint/2010/main" val="454494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B08CB-02E2-4317-8327-17F9C91E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Три контура доверия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AE322-C510-453F-8C19-092DA36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84BE5-C000-48AF-81B6-18468942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Атакующий взаимодействует с приманкой; управление и секреты остаются вне неё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912EB-5CC5-4011-BE24-635E03A9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87C83-DE55-4D24-89EE-D32B0617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CBF52-B3A2-4E78-B282-9FFC3709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2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BBF8E-FF81-4EB8-9AD2-4F426897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7172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7C86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7C86B"/>
                </a:solidFill>
              </a:defRPr>
            </a:pPr>
            <a:r>
              <a:rPr sz="1875" b="1">
                <a:solidFill>
                  <a:srgbClr val="F7C86B"/>
                </a:solidFill>
              </a:rPr>
              <a:t>ПРИМАНКА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769EC-363D-48FF-8EEF-438381C5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27051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Low TCP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Medium HTTP/SSH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High Ubuntu VM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Публичные сервисы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9C4C7-FD22-42A0-91EF-D2CAABCC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24200"/>
            <a:ext cx="714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42D7B8"/>
                </a:solidFill>
              </a:defRPr>
            </a:pPr>
            <a:r>
              <a:rPr sz="3600" b="1">
                <a:solidFill>
                  <a:srgbClr val="42D7B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60398-0AB4-49C5-A702-75895AF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2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8B443-09A6-4FCB-83F1-4D8F7F0E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7172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СЕНСОР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2AA5E-25B3-41E5-85FB-DFCA8AF6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27051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Локальный агент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SQLite outbox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Docker / QEMU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Сетевые ограничения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165AD-9352-4E5A-B835-44F1B0AF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24200"/>
            <a:ext cx="714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42D7B8"/>
                </a:solidFill>
              </a:defRPr>
            </a:pPr>
            <a:r>
              <a:rPr sz="3600" b="1">
                <a:solidFill>
                  <a:srgbClr val="42D7B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1B4FE-D3E5-4E6E-ABD2-49F87A37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2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7DDD6-0F46-4D7D-911F-3CC4A15D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7172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ЦЕНТР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84D3F-AA85-4406-BF73-CCA4D0DE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781300"/>
            <a:ext cx="27051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Gateway + FastAPI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PostgreSQL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Аудит и файлы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React-панель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62C12-846B-4FC2-9B3F-F79071A4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HTTPS / mTLS / SPKI pinning · SSE обновляет интерфейс после приёма события</a:t>
            </a:r>
          </a:p>
        </p:txBody>
      </p:sp>
    </p:spTree>
    <p:extLst>
      <p:ext uri="{BB962C8B-B14F-4D97-AF65-F5344CB8AC3E}">
        <p14:creationId xmlns:p14="http://schemas.microsoft.com/office/powerpoint/2010/main" val="772558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C97BA-F86C-48B6-AFE7-4AC68188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Путь одного наблюдения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12123-BAA4-4568-884B-98EF95DA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6FE1D-5BDE-4127-886E-A7D4850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Версия профиля не меняет работающую приманку без явного применения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AE3D4-A146-4241-BECE-96F43A8C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95733-DC90-4117-8F4C-33E46B5E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D91FD-3517-48D9-AD1E-B71E96B1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1. Настройка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6EAAE-84EC-4601-88B9-2674AF24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Профиль, сервисы, порты и синтетические данные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F21CA-223E-4AB1-AC7B-9DC40A89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2. Развёртывание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C367C-B5A7-4732-ADCA-522A0D58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Задание агенту; состояние подтверждается с хоста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E2F9E-5583-4A73-8455-7542132E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3. Контакт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2639F-E04F-4DD4-9A17-B47A7F5B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7665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Учебный клиент касается TCP, HTTP или SSH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EC312-4C2E-4B0C-8BDD-E3C32813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4. Доставка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4B99C-3E59-419A-8686-BCC94D2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Очередь сохраняет событие; центр подавляет дубли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BA2C3-3DF5-4EE7-8EC3-FECB3406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5. Разбор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FCD35-5E43-4DB8-9FBE-D80530D0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Журнал, плеер, дело, файл, пометка и реакция</a:t>
            </a:r>
          </a:p>
        </p:txBody>
      </p:sp>
    </p:spTree>
    <p:extLst>
      <p:ext uri="{BB962C8B-B14F-4D97-AF65-F5344CB8AC3E}">
        <p14:creationId xmlns:p14="http://schemas.microsoft.com/office/powerpoint/2010/main" val="204742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35D0B-EA3A-42D2-B9AE-07D2A17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Уровни взаимодействия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326B0-A71C-4345-A93D-64C2CFC5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2E996-7041-4129-B2F8-7FE6414F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Low и Medium закрывают обязательный минимум кейса; High — дополнительная возможность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5DDF7-02DE-4A36-882A-1885A3FD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72181-4DD9-47C4-964D-CDC65E79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636BA-0052-441F-932D-BD5E0495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2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1F004-6B6F-4ACC-AF77-F1338FD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03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76501-DF24-4F7D-B150-43C1A64C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28956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Настоящий TCP-порт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Баннер и простой ответ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Факт подключения, адрес, время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Без логики сервиса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1CF08-D4C7-4B91-84F9-3E27375B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193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2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A92BD-8678-4F1A-ABE2-2183026C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7C86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7C86B"/>
                </a:solidFill>
              </a:defRPr>
            </a:pPr>
            <a:r>
              <a:rPr sz="1875" b="1">
                <a:solidFill>
                  <a:srgbClr val="F7C86B"/>
                </a:solidFill>
              </a:rPr>
              <a:t>MEDIUM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B0A4A-32E6-4B23-8266-442A7F2E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9875"/>
            <a:ext cx="28956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HTTP-приманка и SSH Cowrie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Фиктивный вход и файлы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Запросы, команды и вывод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Сессии и артефакты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CD9D4-DE02-41C6-BEE7-0762105B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193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2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72C17-81FE-4218-8D81-2F35874C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003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HIGH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AEF89-7E9F-4036-B0F7-835D8CD6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09875"/>
            <a:ext cx="28956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Настоящая Ubuntu в QEMU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Отдельный диск на SSH-вход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Сетевые ограничения и сброс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Нужен подходящий Linux-хост</a:t>
            </a:r>
          </a:p>
        </p:txBody>
      </p:sp>
    </p:spTree>
    <p:extLst>
      <p:ext uri="{BB962C8B-B14F-4D97-AF65-F5344CB8AC3E}">
        <p14:creationId xmlns:p14="http://schemas.microsoft.com/office/powerpoint/2010/main" val="378683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77714-E329-4FE0-8563-59231465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Профили и управление парком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7CD2A-185D-4218-ABA5-A0418C87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9927C-6238-454E-8181-15EEC155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Профиль v3 объединяет от двух до восьми сервисов и портов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42CC9-F9B5-419A-9BCC-9DAFBD82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34F6E-78A6-400E-921C-2616CBC8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ED1DF-3F86-40C5-9672-A44CB4ED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EC724-BC87-4092-BB76-D7E82020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90750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Версии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EDBD5-9438-48E0-9732-F2DDC1EE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43175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Опубликованная версия неизменна; старые v1/v2 остаются читаемыми.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8F440-885E-4892-9244-09A6A06C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EB6C7-E7DC-4DCE-A7C2-C02FF93E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33750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Группы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BE050-8D17-42E9-B8C2-5F210EE7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86175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Общий запуск, остановка и повторное применение нескольких сервисов.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FA7AA-2AFA-4D2D-9585-70E532BE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3CCE0-7A43-44A5-A42C-1BE52D73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76750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Статусы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EDFA0-341D-45D2-8A00-A7BE9C8A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29175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Панель различает желаемое состояние, наблюдаемое состояние и подтверждение сенсора.</a:t>
            </a:r>
          </a:p>
        </p:txBody>
      </p:sp>
    </p:spTree>
    <p:extLst>
      <p:ext uri="{BB962C8B-B14F-4D97-AF65-F5344CB8AC3E}">
        <p14:creationId xmlns:p14="http://schemas.microsoft.com/office/powerpoint/2010/main" val="12056874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0E04B-9A10-4FC9-93B4-F27BBC55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События и доказательства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A5CA7-7B79-449B-AD5E-5E8B027D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2F492-CA96-4736-81C6-2EB69ED6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Наблюдение связано с ловушкой, поколением запуска и сессией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38397-6E8D-4A68-8905-3AD378C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FEEDF-E47D-4288-9095-91771489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EDBB7-F22A-4FE0-B2F0-404C8D5E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18740-EA03-45EC-A868-8C653F5C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4312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Журнал и плеер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EF767-26BD-4D4C-B0F9-B1116FCF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9555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Фильтры, живой поток, последовательность команд, исторический replay.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B546E-EA87-46F3-858B-5DC2980E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26EFA-7CA8-4E1D-8A18-598FA05F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8612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Файлы и PCAP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95162-F550-4B3E-A2FC-90A475F1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3855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Размер, SHA-256, возобновляемая доставка, отдельный доступ.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DB023-F51E-4E66-9581-0DD2A3DE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875F4-2FB3-4200-9F7E-0552A282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2912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Расследование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C1686-C2BD-4EAF-BA18-E4F2F1F6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78155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Дела, закрепление от очистки, экспорт JSON/CSV/STIX и аудит действий.</a:t>
            </a:r>
          </a:p>
        </p:txBody>
      </p:sp>
    </p:spTree>
    <p:extLst>
      <p:ext uri="{BB962C8B-B14F-4D97-AF65-F5344CB8AC3E}">
        <p14:creationId xmlns:p14="http://schemas.microsoft.com/office/powerpoint/2010/main" val="1604003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2B36B-46E8-4319-8EC6-AA82BF60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Маскировка и защита канала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DFA81-F9ED-450C-B5E4-12F51B08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74FBD-2418-4000-8CB5-7C03403B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Проверены конкретные меры; абсолютную нераспознаваемость мы не обещаем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6622A-95FE-4A8E-B8F1-6643F062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8549D-17C3-478C-8D49-ADEC6C71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D590A-4DDA-4963-AF0E-09B74EBF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Шифрование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9615B-195F-4FAE-9E2D-58B19DF5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6217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HTTPS, CA/hostname, mTLS и SPKI pin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EB634-B6E6-4E45-BE78-97932ACF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Маршрут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15402-4BEC-4343-BC35-E1C735EB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/assets/sync/v1 за обычным веб-ресурсом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4E471-D254-4AAE-B4F0-5EE8C36A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Изоляция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ECFBD-C939-490C-B1A8-A2119E4F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671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Отдельная сеть управления; агент вне приманки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AB16D-8438-4744-B5A4-6D431F13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Следы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CA6F6-1D2D-43EF-ABC6-2923D0FB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96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Нейтральное имя агента, изменяемые интервалы и размеры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7106A-BEF4-45A7-8E55-2887E65D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Данные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FEDA3-A55D-4155-A827-94724707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7207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Защищённые поля шифруются до журнала и очереди</a:t>
            </a:r>
          </a:p>
        </p:txBody>
      </p:sp>
    </p:spTree>
    <p:extLst>
      <p:ext uri="{BB962C8B-B14F-4D97-AF65-F5344CB8AC3E}">
        <p14:creationId xmlns:p14="http://schemas.microsoft.com/office/powerpoint/2010/main" val="17407255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184C9-30F2-4DE8-9940-319E00CB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Роли и права доступа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7C3E3-2BE2-4A35-BB92-7883EEF6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31FFD-34E9-4697-B9D5-112AF288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Сервер проверяет каждое действие; новая роль участника видит только CTF-раздел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73982-A360-435B-89E5-0C32D694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18A47-FA37-4F69-B454-E9EAE070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1808D-C094-4361-A4E5-66047BBD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7C86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7C86B"/>
                </a:solidFill>
              </a:defRPr>
            </a:pPr>
            <a:r>
              <a:rPr sz="1875" b="1">
                <a:solidFill>
                  <a:srgbClr val="F7C86B"/>
                </a:solidFill>
              </a:rPr>
              <a:t>Администратор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B8CB1-0548-4491-903A-F148F9F7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6217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Пользователи, хосты, интеграции, задания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161AB-1C8C-433D-AD5F-D9C305CB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7C86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7C86B"/>
                </a:solidFill>
              </a:defRPr>
            </a:pPr>
            <a:r>
              <a:rPr sz="1875" b="1">
                <a:solidFill>
                  <a:srgbClr val="F7C86B"/>
                </a:solidFill>
              </a:rPr>
              <a:t>Оператор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42F5B-BDDF-4BC8-A2F3-01E6DC4F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Профили, ловушки, реакции, расследования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7F882-0613-4B49-9311-2B1D06C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7C86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7C86B"/>
                </a:solidFill>
              </a:defRPr>
            </a:pPr>
            <a:r>
              <a:rPr sz="1875" b="1">
                <a:solidFill>
                  <a:srgbClr val="F7C86B"/>
                </a:solidFill>
              </a:rPr>
              <a:t>Аналитик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F1B02-ACC5-468E-88A6-1008C1B2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671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Дела, доказательства, экспорт, пометки событий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489AB-F18A-4911-9E8C-5C56C5F4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7C86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7C86B"/>
                </a:solidFill>
              </a:defRPr>
            </a:pPr>
            <a:r>
              <a:rPr sz="1875" b="1">
                <a:solidFill>
                  <a:srgbClr val="F7C86B"/>
                </a:solidFill>
              </a:rPr>
              <a:t>Наблюдатель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164A0-532F-4D6E-9209-E6E31EAD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196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Просмотр обычных разделов без изменений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A3586-5346-4DF3-8EB1-B8ACE29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7C86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7C86B"/>
                </a:solidFill>
              </a:defRPr>
            </a:pPr>
            <a:r>
              <a:rPr sz="1875" b="1">
                <a:solidFill>
                  <a:srgbClr val="F7C86B"/>
                </a:solidFill>
              </a:rPr>
              <a:t>Участник CTF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DC65A-B302-40A2-8FD2-5EEBF8B4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7207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FAF8"/>
                </a:solidFill>
              </a:defRPr>
            </a:pPr>
            <a:r>
              <a:rPr sz="1725" b="0">
                <a:solidFill>
                  <a:srgbClr val="F1FAF8"/>
                </a:solidFill>
              </a:rPr>
              <a:t>Задания, отправка флагов, 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15207502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FF73D-833C-4A71-9C3C-77A12920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CTF-флаги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A9AA6-4E4C-4A25-8D8F-44C5FC76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AB725-BD1E-4B27-BE69-3EA6DB93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Задание привязывается к маркеру, размещённому в конкретном запуске ловушки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6E5FC-A4A8-4CE4-BE53-3172EB02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0CD88-0260-4B35-8730-948BBDA8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76DE7-D12A-4A55-8910-15F73936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032D2-D8C4-40EB-BB2E-6D474DBA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4312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Подготовка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6C358-C7EF-46EA-A4C6-1AB690EC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9555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Администратор выпускает honeytoken, применяет профиль и создаёт задание с очками.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CF327-648A-44D5-B4A2-8986E359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37D47-512C-48C0-93D6-47DE2FD2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8612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C5A2C-73B6-4487-AEF2-33ABC087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3855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Участник находит HF{...} в приманке и отправляет его в панели.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295C2-3663-4843-9B50-C4AF707F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FE534-F265-405A-BE6A-247CC0D7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2912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Учёт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F294A-B295-4B7B-BD4A-1E61662B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78155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Сверка на сервере, один зачёт на участника и задание, таблица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19200554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ADD6B-EAA0-422C-B73D-9DD0969B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Флаги событий и реакция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BB30E-18F7-4CBA-840E-1183976B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36EE9-7B23-4690-9021-E1928E94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Пометки аналитика не переписывают исходную телеметрию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5DD77-A7F9-49A8-8E7B-327831B8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BC7C8-6507-4DB5-9285-7DC2C077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A128B-2275-4DAE-9998-90AE45FB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5000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2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0A878-815D-48CD-96E3-33A1942B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ФЛАГИ СОБЫТИЙ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30C95-A8AD-4554-B8C2-9A33FBF9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45624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Подозрительно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Проверено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Ложное срабатывание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Передано на разбор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Каждое изменение в аудите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6AE22-0FD1-4366-978C-4122A4D6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57425"/>
            <a:ext cx="5000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2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E5057-5F85-4D63-A830-3AFB06D7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38400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7C86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7C86B"/>
                </a:solidFill>
              </a:defRPr>
            </a:pPr>
            <a:r>
              <a:rPr sz="1875" b="1">
                <a:solidFill>
                  <a:srgbClr val="F7C86B"/>
                </a:solidFill>
              </a:rPr>
              <a:t>РЕАКЦИЯ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7CA40-2FBD-407A-A74B-92E985A0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47975"/>
            <a:ext cx="45624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Ограничение наблюдаемого IP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Только выбранная ловушка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Отдельное закрытие SSH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Статус после ACK агента</a:t>
            </a:r>
          </a:p>
        </p:txBody>
      </p:sp>
    </p:spTree>
    <p:extLst>
      <p:ext uri="{BB962C8B-B14F-4D97-AF65-F5344CB8AC3E}">
        <p14:creationId xmlns:p14="http://schemas.microsoft.com/office/powerpoint/2010/main" val="224000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F331A-68DC-4CB2-AE4E-507CB9C8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Дополнительные функции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97F95-D011-4BF9-A620-181D1CAB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DBAF2-440A-4D01-A326-0322DC5B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Функции дополняют обязательный сценарий, а не заменяют его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91A0A-A758-478C-984F-2C84B233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E078-23D8-4C3D-B173-E155C208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C413B-6E0E-47E8-9210-A9993AFC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16A29-7E6F-489F-A116-48775590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4312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Обнаружение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ADA1E-08C1-492F-8817-40679597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9555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Honeytokens и пороговые правила по наблюдаемым попыткам входа.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FCF4B-616A-41FF-B01C-22BAC23C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BD712-7836-46D3-B604-08B37B99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8612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Аналитика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C0329-EDAC-4D2C-99D1-C15B3181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3855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Локальные City/ASN базы, топ источников, IoC CSV и STIX 2.1.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16EBB-CF23-4C83-9CEB-861F18D6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2D7B8"/>
                </a:solidFill>
              </a:defRPr>
            </a:pPr>
            <a:r>
              <a:rPr sz="2025" b="1">
                <a:solidFill>
                  <a:srgbClr val="42D7B8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4DB2B-3B94-4EF1-A90D-302DC472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29125"/>
            <a:ext cx="1022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1FAF8"/>
                </a:solidFill>
              </a:defRPr>
            </a:pPr>
            <a:r>
              <a:rPr sz="1950" b="1">
                <a:solidFill>
                  <a:srgbClr val="F1FAF8"/>
                </a:solidFill>
              </a:rPr>
              <a:t>Эксплуатация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DA584-3A79-4FF1-A717-F3AC5F95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781550"/>
            <a:ext cx="1022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Интеграционные ключи, резервное восстановление, retention, сертификаты сенсоров.</a:t>
            </a:r>
          </a:p>
        </p:txBody>
      </p:sp>
    </p:spTree>
    <p:extLst>
      <p:ext uri="{BB962C8B-B14F-4D97-AF65-F5344CB8AC3E}">
        <p14:creationId xmlns:p14="http://schemas.microsoft.com/office/powerpoint/2010/main" val="13046071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D4D85-CC4A-4650-B611-D0A49E67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Что проверено — и где граница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6E357-006E-4B67-A89F-2FB074B5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DFC5F-D063-4097-A54B-711A907D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Исторический нагрузочный прогон относится к прежней сборке Low/Medium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CB8C1-B712-4705-A6E6-AC50C845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DA4C1-4632-485F-85EC-11BCEEAB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9070D-4DA9-43E3-A4BD-FD7EB3D6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8101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2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14E15-FF94-41B2-81E5-1979CF85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42D7B8"/>
                </a:solidFill>
              </a:defRPr>
            </a:pPr>
            <a:r>
              <a:rPr sz="1875" b="1">
                <a:solidFill>
                  <a:srgbClr val="42D7B8"/>
                </a:solidFill>
              </a:rPr>
              <a:t>ПОДТВЕРЖДЕНО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3573B-0E8B-4C3A-B02A-96BAA764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43200"/>
            <a:ext cx="4371975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2 сенсора / 10 ловушек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9000 событий за 900 с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0 дублей, 8 SSH-сессий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60 с обрыва и досылка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3D23A-1BE8-4DEA-9C91-7106F956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2"/>
          </a:solidFill>
          <a:ln xmlns:a="http://schemas.openxmlformats.org/drawingml/2006/main" w="9525">
            <a:solidFill>
              <a:srgbClr val="2851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A552B-274B-4EB4-A0AE-62D14F47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33625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7C86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7C86B"/>
                </a:solidFill>
              </a:defRPr>
            </a:pPr>
            <a:r>
              <a:rPr sz="1875" b="1">
                <a:solidFill>
                  <a:srgbClr val="F7C86B"/>
                </a:solidFill>
              </a:rPr>
              <a:t>ТРЕБУЕТ ОТДЕЛЬНОЙ ПРОВЕРКИ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12AF0-5A8D-48A9-A8E9-BDAAF2D3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43200"/>
            <a:ext cx="50292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Новая система флагов под нагрузкой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Целевой Windows/WSL/ACL стенд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KVM для High</a:t>
            </a:r>
          </a:p>
          <a:p xmlns:a="http://schemas.openxmlformats.org/drawingml/2006/main">
            <a:pPr>
              <a:defRPr sz="1575" b="0">
                <a:solidFill>
                  <a:srgbClr val="F1FAF8"/>
                </a:solidFill>
              </a:defRPr>
            </a:pPr>
            <a:r>
              <a:rPr sz="1575" b="0">
                <a:solidFill>
                  <a:srgbClr val="F1FAF8"/>
                </a:solidFill>
              </a:rPr>
              <a:t>Внешний SLA и универсальная скрытность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CDBE7-7999-4E01-BD3E-FB86F66C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CDD0"/>
                </a:solidFill>
              </a:defRPr>
            </a:pPr>
            <a:r>
              <a:rPr sz="1500" b="0">
                <a:solidFill>
                  <a:srgbClr val="B9CDD0"/>
                </a:solidFill>
              </a:rPr>
              <a:t>p95 1,401 с — по 8078 видимым DOM-строкам прежней сборки, не время paint каждого события.</a:t>
            </a:r>
          </a:p>
        </p:txBody>
      </p:sp>
    </p:spTree>
    <p:extLst>
      <p:ext uri="{BB962C8B-B14F-4D97-AF65-F5344CB8AC3E}">
        <p14:creationId xmlns:p14="http://schemas.microsoft.com/office/powerpoint/2010/main" val="2140660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A7A51-774E-4C75-BD0F-79656E9C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1FAF8"/>
                </a:solidFill>
              </a:defRPr>
            </a:pPr>
            <a:r>
              <a:rPr sz="3225" b="1">
                <a:solidFill>
                  <a:srgbClr val="F1FAF8"/>
                </a:solidFill>
              </a:rPr>
              <a:t>Сценарий защиты Uni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1AB9B-3029-407F-8C66-C0386ACA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8"/>
          </a:solidFill>
          <a:ln xmlns:a="http://schemas.openxmlformats.org/drawingml/2006/main" w="9525">
            <a:solidFill>
              <a:srgbClr val="42D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D2520-124C-4AF6-8AD2-5EA3D3A5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9CDD0"/>
                </a:solidFill>
              </a:defRPr>
            </a:pPr>
            <a:r>
              <a:rPr sz="1650" b="0">
                <a:solidFill>
                  <a:srgbClr val="B9CDD0"/>
                </a:solidFill>
              </a:rPr>
              <a:t>Живой путь от контакта с ловушкой до анализа и CTF-зачёта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2F8A7-61E9-4A22-8A6A-4E37EEE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42D7B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2D7B8"/>
                </a:solidFill>
              </a:defRPr>
            </a:pPr>
            <a:r>
              <a:rPr sz="1125" b="1">
                <a:solidFill>
                  <a:srgbClr val="42D7B8"/>
                </a:solidFill>
              </a:rPr>
              <a:t>UNI  /  HONEYFORGE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EDBEA-5159-481A-8AFA-26D92381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9CDD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9CDD0"/>
                </a:solidFill>
              </a:defRPr>
            </a:pPr>
            <a:r>
              <a:rPr sz="1125" b="0">
                <a:solidFill>
                  <a:srgbClr val="B9CDD0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8ED8A-FFA4-4544-B87C-E970B935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AF8"/>
                </a:solidFill>
              </a:defRPr>
            </a:pPr>
            <a:r>
              <a:rPr sz="1875" b="0">
                <a:solidFill>
                  <a:srgbClr val="F1FAF8"/>
                </a:solidFill>
              </a:rPr>
              <a:t>1  Показать профиль и удалённые сенсоры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7041F-AECF-4F48-8F1E-DF4CC14A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33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AF8"/>
                </a:solidFill>
              </a:defRPr>
            </a:pPr>
            <a:r>
              <a:rPr sz="1875" b="0">
                <a:solidFill>
                  <a:srgbClr val="F1FAF8"/>
                </a:solidFill>
              </a:rPr>
              <a:t>2  Подключиться к Low и SSH/HTTP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B2208-C5D6-4FBC-B0B7-9D7B85E7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528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AF8"/>
                </a:solidFill>
              </a:defRPr>
            </a:pPr>
            <a:r>
              <a:rPr sz="1875" b="0">
                <a:solidFill>
                  <a:srgbClr val="F1FAF8"/>
                </a:solidFill>
              </a:rPr>
              <a:t>3  Открыть новые события, плеер и доказательство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F0238-7042-4600-B257-272BC381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719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AF8"/>
                </a:solidFill>
              </a:defRPr>
            </a:pPr>
            <a:r>
              <a:rPr sz="1875" b="0">
                <a:solidFill>
                  <a:srgbClr val="F1FAF8"/>
                </a:solidFill>
              </a:rPr>
              <a:t>4  Пометить событие и показать аудит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753DB-49FC-4E4D-999E-89DC04EC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91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7C86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7C86B"/>
                </a:solidFill>
              </a:defRPr>
            </a:pPr>
            <a:r>
              <a:rPr sz="1875" b="1">
                <a:solidFill>
                  <a:srgbClr val="F7C86B"/>
                </a:solidFill>
              </a:rPr>
              <a:t>5  Найти CTF-флаг и отправить его участником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56C1F-0C90-4F58-AF89-A08EEE87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F1FAF8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1FAF8"/>
                </a:solidFill>
              </a:defRPr>
            </a:pPr>
            <a:r>
              <a:rPr sz="1875" b="0">
                <a:solidFill>
                  <a:srgbClr val="F1FAF8"/>
                </a:solidFill>
              </a:rPr>
              <a:t>6  Объяснить маскировку, очередь и границы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1766780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2026-10-15T23:22:00.5470000Z</dcterms:created>
  <dcterms:modified xsi:type="dcterms:W3CDTF">2026-10-15T23:22:00.5470000Z</dcterms:modified>
</coreProperties>
</file>