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63aeb91595465d" /><Relationship Type="http://schemas.openxmlformats.org/officeDocument/2006/relationships/extended-properties" Target="/docProps/app.xml" Id="R8bb9771ee2904484" /><Relationship Type="http://schemas.openxmlformats.org/officeDocument/2006/relationships/officeDocument" Target="/ppt/presentation.xml" Id="R1c36a11002fe47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397f1993224954"/>
  </p:sldMasterIdLst>
  <p:notesMasterIdLst>
    <p:notesMasterId xmlns:r="http://schemas.openxmlformats.org/officeDocument/2006/relationships" r:id="Rec2d527c16b343d3"/>
  </p:notesMasterIdLst>
  <p:sldIdLst>
    <p:sldId xmlns:r="http://schemas.openxmlformats.org/officeDocument/2006/relationships" id="256" r:id="R897abe712313457c"/>
    <p:sldId xmlns:r="http://schemas.openxmlformats.org/officeDocument/2006/relationships" id="257" r:id="R25438d231fcc4533"/>
    <p:sldId xmlns:r="http://schemas.openxmlformats.org/officeDocument/2006/relationships" id="258" r:id="Rffa64d5fcbde4f43"/>
    <p:sldId xmlns:r="http://schemas.openxmlformats.org/officeDocument/2006/relationships" id="259" r:id="R720f0316220243ac"/>
    <p:sldId xmlns:r="http://schemas.openxmlformats.org/officeDocument/2006/relationships" id="260" r:id="R3842170a60764e3e"/>
    <p:sldId xmlns:r="http://schemas.openxmlformats.org/officeDocument/2006/relationships" id="261" r:id="Rc20342793b2545c1"/>
    <p:sldId xmlns:r="http://schemas.openxmlformats.org/officeDocument/2006/relationships" id="262" r:id="Rff46aaff9d8540c3"/>
    <p:sldId xmlns:r="http://schemas.openxmlformats.org/officeDocument/2006/relationships" id="263" r:id="R423778f065bf4e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da3e2e2bd94291" /><Relationship Type="http://schemas.openxmlformats.org/officeDocument/2006/relationships/slideMaster" Target="/ppt/slideMasters/slideMaster1.xml" Id="R8c397f1993224954" /><Relationship Type="http://schemas.openxmlformats.org/officeDocument/2006/relationships/notesMaster" Target="/ppt/notesMasters/notesMaster1.xml" Id="Rec2d527c16b343d3" /><Relationship Type="http://schemas.openxmlformats.org/officeDocument/2006/relationships/presProps" Target="/ppt/presProps.xml" Id="Rb543c918081244f6" /><Relationship Type="http://schemas.openxmlformats.org/officeDocument/2006/relationships/tableStyles" Target="/ppt/tableStyles.xml" Id="R60538f31f8da4816" /><Relationship Type="http://schemas.openxmlformats.org/officeDocument/2006/relationships/slide" Target="/ppt/slides/slide1.xml" Id="R897abe712313457c" /><Relationship Type="http://schemas.openxmlformats.org/officeDocument/2006/relationships/slide" Target="/ppt/slides/slide2.xml" Id="R25438d231fcc4533" /><Relationship Type="http://schemas.openxmlformats.org/officeDocument/2006/relationships/slide" Target="/ppt/slides/slide3.xml" Id="Rffa64d5fcbde4f43" /><Relationship Type="http://schemas.openxmlformats.org/officeDocument/2006/relationships/slide" Target="/ppt/slides/slide4.xml" Id="R720f0316220243ac" /><Relationship Type="http://schemas.openxmlformats.org/officeDocument/2006/relationships/slide" Target="/ppt/slides/slide5.xml" Id="R3842170a60764e3e" /><Relationship Type="http://schemas.openxmlformats.org/officeDocument/2006/relationships/slide" Target="/ppt/slides/slide6.xml" Id="Rc20342793b2545c1" /><Relationship Type="http://schemas.openxmlformats.org/officeDocument/2006/relationships/slide" Target="/ppt/slides/slide7.xml" Id="Rff46aaff9d8540c3" /><Relationship Type="http://schemas.openxmlformats.org/officeDocument/2006/relationships/slide" Target="/ppt/slides/slide8.xml" Id="R423778f065bf4e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43b8d19d5e47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dfff17f5f44ed9" /><Relationship Type="http://schemas.openxmlformats.org/officeDocument/2006/relationships/notesMaster" Target="/ppt/notesMasters/notesMaster1.xml" Id="R02e81e3044e14e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e49674386442ae" /><Relationship Type="http://schemas.openxmlformats.org/officeDocument/2006/relationships/notesMaster" Target="/ppt/notesMasters/notesMaster1.xml" Id="R8cd0ca16a93646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23993e454b449b" /><Relationship Type="http://schemas.openxmlformats.org/officeDocument/2006/relationships/notesMaster" Target="/ppt/notesMasters/notesMaster1.xml" Id="R7cf0eae5b82d4d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60a02208a44302" /><Relationship Type="http://schemas.openxmlformats.org/officeDocument/2006/relationships/notesMaster" Target="/ppt/notesMasters/notesMaster1.xml" Id="Raa499d1fbeda44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7f044b7cd94c0d" /><Relationship Type="http://schemas.openxmlformats.org/officeDocument/2006/relationships/notesMaster" Target="/ppt/notesMasters/notesMaster1.xml" Id="R1b5f71aa91114d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c504406cd74311" /><Relationship Type="http://schemas.openxmlformats.org/officeDocument/2006/relationships/notesMaster" Target="/ppt/notesMasters/notesMaster1.xml" Id="R74c650ee01c241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a80816c67e4c06" /><Relationship Type="http://schemas.openxmlformats.org/officeDocument/2006/relationships/notesMaster" Target="/ppt/notesMasters/notesMaster1.xml" Id="R46f23dd00c0b45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779e2fbfe3430d" /><Relationship Type="http://schemas.openxmlformats.org/officeDocument/2006/relationships/notesMaster" Target="/ppt/notesMasters/notesMaster1.xml" Id="Rb2ceb82fb1d645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0:00–0:15. Централизованный конструктор реалистичных ловушек. Показываем полный цикл наблюдения и реакции.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0:15–0:35. Настраиваем сервис, баннер, файлы, фиктивные аккаунты и запись. Публикация неизменяема, новый запуск требует явного redeploy. Скриншот конструктора: 53-editor-wide-final.png. Preview подписан локальным и не выдаётся за настоящую атаку.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0:35–1:00. Это редактируемая архитектурная схема, а не рисунок. Доверенный сенсор работает вне приманки. Docker socket и управляющие секреты остаются снаружи. Доказательство: masking.json. Management namespace — логическое разделение в лаборатории, не физический OOB.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1:00–1:35. Показать реальную SSH-сессию на выделенной лабораторной VM, затем живой плеер. Cowrie shell — эмуляция, не High. Скриншот 31-player-output-final.png, реакция подтверждается session-termination.json.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1:35–1:55. SFTP принят реально, файл совпадает по SHA-256. PCAP содержит сетевые bytes, чувствительные structured observations зашифрованы до stdout. Скриншот 37-real-artifacts.png. foundation.json, binary-evidence.json, test_evidence.py.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1:55–2:15. TLS проверяет цепочку и hostname. Неправильный сертификат отклонён. Внутренние agent/docs маршруты недоступны извне. Новый исходящий трафик ловушек заблокирован внешними правилами. Proof: foundation.json / masking.json / certificates.json / client-tls.json. Standard Caddy TLS directives: https://caddyserver.com/docs/caddyfile/directives/tls. Нейтральная служба не гарантирует абсолютную нераспознаваемость.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2:15–2:40. Показывать только завершённые proof JSON. sustained load измеряется отдельно, незавершённый или failed run не считается достижением. Browser measurement: DOM/layout viewport, не физическая отрисовка. Sampling and unseen_paths сохраняются явно; p95 относится к показанным строкам, не к гарантии отображения всей истории.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/Users/admin/Downloads/Мадригал1/Мадригал. Конструктор.pdf. Исходники и доказательства: /Users/admin/Documents/GitHub/hack/docs/evidence/.</a:t>
            </a:r>
          </a:p>
          <a:p xmlns:a="http://schemas.openxmlformats.org/drawingml/2006/main">
            <a:r>
              <a:t>2:40–3:00. Cowrie поставляет SSH/SFTP и shell. Наша работа — собственные Low/HTTP сенсоры, immutable versions, remote orchestration, scoped evidence/crypto, durable delivery, реакции и UI. Нейросетей в продукте нет. High требует отдельного KVM-хоста. Личность по IP и облачный SLA не заявляем. Сторонние компоненты: docs/THIRD_PARTY.json.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edafb96d094a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9c8589df9d46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90f3a0234e4f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e44a82123142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3015177b1d46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05768713c343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CF1939-83AA-4AA5-8A63-867646CF6D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4B129A-F705-4864-B70A-399F1DC392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269D2E-0994-4326-B176-C10DEB4F8C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694B2E-51C8-428E-BD28-7D1D9B9C0B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9D913A9-BA4A-495D-8BBC-94A6C9C650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875DBC-C657-4D9E-A48A-C6C7CA2F9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44CA12-6FF8-40A5-AD88-2B8ADD4E4C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C86DED-A062-46CD-AD08-EBB289E3E9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799B1C-71F6-44A9-87A6-2CB1F167C4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9A40F0-EE31-489D-832F-7D3AA278B7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320f76b28d4c51" /><Relationship Type="http://schemas.openxmlformats.org/officeDocument/2006/relationships/slideLayout" Target="/ppt/slideLayouts/slideLayout1.xml" Id="R5cb076ac08f44cd3" /><Relationship Type="http://schemas.openxmlformats.org/officeDocument/2006/relationships/slideLayout" Target="/ppt/slideLayouts/slideLayout2.xml" Id="Ra8e39d3eb3cc4df1" /><Relationship Type="http://schemas.openxmlformats.org/officeDocument/2006/relationships/slideLayout" Target="/ppt/slideLayouts/slideLayout3.xml" Id="R67b0baed53d64658" /><Relationship Type="http://schemas.openxmlformats.org/officeDocument/2006/relationships/slideLayout" Target="/ppt/slideLayouts/slideLayout4.xml" Id="R54ad5f8b71674213" /><Relationship Type="http://schemas.openxmlformats.org/officeDocument/2006/relationships/slideLayout" Target="/ppt/slideLayouts/slideLayout5.xml" Id="R1d75cc0a10fb4ce8" /><Relationship Type="http://schemas.openxmlformats.org/officeDocument/2006/relationships/slideLayout" Target="/ppt/slideLayouts/slideLayout6.xml" Id="Ra98638a2cbc44f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b076ac08f44cd3"/>
    <p:sldLayoutId xmlns:r="http://schemas.openxmlformats.org/officeDocument/2006/relationships" id="2147483650" r:id="Ra8e39d3eb3cc4df1"/>
    <p:sldLayoutId xmlns:r="http://schemas.openxmlformats.org/officeDocument/2006/relationships" id="2147483651" r:id="R67b0baed53d64658"/>
    <p:sldLayoutId xmlns:r="http://schemas.openxmlformats.org/officeDocument/2006/relationships" id="2147483652" r:id="R54ad5f8b71674213"/>
    <p:sldLayoutId xmlns:r="http://schemas.openxmlformats.org/officeDocument/2006/relationships" id="2147483653" r:id="R1d75cc0a10fb4ce8"/>
    <p:sldLayoutId xmlns:r="http://schemas.openxmlformats.org/officeDocument/2006/relationships" id="2147483654" r:id="Ra98638a2cbc44f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0f5d72e4ab4c5a" /><Relationship Type="http://schemas.openxmlformats.org/officeDocument/2006/relationships/notesSlide" Target="/ppt/notesSlides/notesSlide1.xml" Id="Rd67eb98e5b8a47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469a7f44544f48" /><Relationship Type="http://schemas.openxmlformats.org/officeDocument/2006/relationships/image" Target="/ppt/media/image.png" Id="Red1b4332752941db" /><Relationship Type="http://schemas.openxmlformats.org/officeDocument/2006/relationships/notesSlide" Target="/ppt/notesSlides/notesSlide2.xml" Id="Rfa1c5d7b9c4646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c2b9d6502a4db4" /><Relationship Type="http://schemas.openxmlformats.org/officeDocument/2006/relationships/notesSlide" Target="/ppt/notesSlides/notesSlide3.xml" Id="Rcd00472be3f44a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ba11773bf74dde" /><Relationship Type="http://schemas.openxmlformats.org/officeDocument/2006/relationships/image" Target="/ppt/media/image.jpeg" Id="Ra3ef1b8ed87c4a47" /><Relationship Type="http://schemas.openxmlformats.org/officeDocument/2006/relationships/notesSlide" Target="/ppt/notesSlides/notesSlide4.xml" Id="R39984dcdc3dc42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666f5ae2254fbb" /><Relationship Type="http://schemas.openxmlformats.org/officeDocument/2006/relationships/image" Target="/ppt/media/image2.jpeg" Id="R39d359cd0db341d8" /><Relationship Type="http://schemas.openxmlformats.org/officeDocument/2006/relationships/notesSlide" Target="/ppt/notesSlides/notesSlide5.xml" Id="R03b281cb341f4c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a239cff40748e5" /><Relationship Type="http://schemas.openxmlformats.org/officeDocument/2006/relationships/notesSlide" Target="/ppt/notesSlides/notesSlide6.xml" Id="R046d761fedb049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2644c8b40545ca" /><Relationship Type="http://schemas.openxmlformats.org/officeDocument/2006/relationships/notesSlide" Target="/ppt/notesSlides/notesSlide7.xml" Id="R68424018670446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a732d66895493a" /><Relationship Type="http://schemas.openxmlformats.org/officeDocument/2006/relationships/notesSlide" Target="/ppt/notesSlides/notesSlide8.xml" Id="Ra18b9b82f89a4d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5F2F4-6984-4370-9044-4CA9DA4A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HoneyForge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AD886-89E9-45AF-B822-FBDCE078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Конструктор и центр управления</a:t>
            </a:r>
          </a:p>
          <a:p xmlns:a="http://schemas.openxmlformats.org/drawingml/2006/main">
            <a:pPr>
              <a:buNone/>
              <a:def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реалистичными ловушками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E36BD-2B3E-4F36-B3F7-B42F55AF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Профили, удалённые сенсоры, события в реальном времени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432EB-C5AB-41F1-A8C3-F52A60BD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UmirHack · кейс «Мадригал» · 16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17641701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A5D5D-8634-4CA3-BCC6-B3CE9AED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Задача кейса и наше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10DD7-B258-492A-B8FA-9E8561CB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Цель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45609-7DD5-4E22-9B59-7FFA7080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3524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Единые профили и удалённый запуск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Low и Medium на отдельном сенсоре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События и сессии в одной панели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Скрытый канал управления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Справа: конструктор прежнего стенда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0596A-FD95-43ED-86A9-515630DE05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b4332752941db"/>
          <a:stretch xmlns:a="http://schemas.openxmlformats.org/drawingml/2006/main"/>
        </p:blipFill>
        <p:spPr>
          <a:xfrm xmlns:a="http://schemas.openxmlformats.org/drawingml/2006/main">
            <a:off x="4797425" y="1714500"/>
            <a:ext cx="65024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9685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CBC85-B48F-4AD0-A450-8BEC43A2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Три контура системы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9A0AD-BA01-4C5D-A414-578A0BCB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Приманка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4753D-E392-41E5-94BD-5B912B15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Low TCP / Medium HTTP, SSH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Учебные данные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Без доступа к ОС сенсора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23D64-8B97-4AB4-B5A5-CCBE77F4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526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Сенсор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DD220-8B13-412D-B8C4-7FF623B4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622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Ubuntu VM / агент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Локальная очередь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Контейнеры приманок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7F816-05AF-4C10-A4D8-C920F72C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Центр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587D2-6A62-4963-B11D-464C2828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FastAPI / PostgreSQL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Профили и события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Веб-интерфейс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D1509-AA9D-45C2-8917-D23ADBF6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38500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C4D50-F49F-495E-AACE-B746CA61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38500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8154E-27AD-4096-B398-975B54EB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Контакты и команды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58EA8-AB82-48A1-9192-644FD486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905375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HTTPS / mTLS / client 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6FBDD-FEDB-4416-A6E0-9C9EA98B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05375"/>
            <a:ext cx="309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SSE в интерфейс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D7592-8589-4A66-A034-02578C07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Атакующий видит сервис-приманку; управление остаётся вне её контейнера.</a:t>
            </a:r>
          </a:p>
        </p:txBody>
      </p:sp>
    </p:spTree>
    <p:extLst>
      <p:ext uri="{BB962C8B-B14F-4D97-AF65-F5344CB8AC3E}">
        <p14:creationId xmlns:p14="http://schemas.microsoft.com/office/powerpoint/2010/main" val="16567412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F6E55-1897-438F-A0E4-987255BE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Поддерживаемые уровни и данные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11E65-D6A2-40F8-B566-1D7245EF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Low / Medium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2B02A-107F-45A7-8C36-A8CC3376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524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Low: баннер, источник и время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Medium HTTP: запросы и ввод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Medium SSH: входы и команды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Проект поддерживает только Low и Medium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Справа: плеер прежнего стенда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B9E7B-05E5-40A0-9CF1-87F69C6A81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f1b8ed87c4a47"/>
          <a:stretch xmlns:a="http://schemas.openxmlformats.org/drawingml/2006/main"/>
        </p:blipFill>
        <p:spPr>
          <a:xfrm xmlns:a="http://schemas.openxmlformats.org/drawingml/2006/main">
            <a:off x="4572000" y="2044898"/>
            <a:ext cx="6953250" cy="39112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8394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2885C-E4F7-4282-9F54-D3C395F0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От контакта до события в центре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BFC83-B188-4D41-917B-50EBC990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Событие и сессия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F47B5-78C6-4F69-9253-9FFA6AC3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524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Клиент подключается к ловушке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Сенсор записывает действие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Очередь доставляет данные центру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Центр хранит событие и сессию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Панель показывает их оператору</a:t>
            </a:r>
          </a:p>
          <a:p xmlns:a="http://schemas.openxmlformats.org/drawingml/2006/main">
            <a:pPr>
              <a:buNone/>
              <a:def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Справа: прежний стенд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8AEEF-90F3-4AEF-8D0E-7EA14ABB57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359cd0db341d8"/>
          <a:stretch xmlns:a="http://schemas.openxmlformats.org/drawingml/2006/main"/>
        </p:blipFill>
        <p:spPr>
          <a:xfrm xmlns:a="http://schemas.openxmlformats.org/drawingml/2006/main">
            <a:off x="4572000" y="2044898"/>
            <a:ext cx="6953250" cy="39112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060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DFD59-9DAA-4F13-B5AF-C1BAED3A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Как маскируется канал управления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CEDF2-C6A9-42C9-98AA-8EF7EF527EB5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4619625"/>
                <a:gridCol w="44005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Контроль</a:t>
                      </a:r>
                    </a:p>
                  </a:txBody>
                  <a:tcPr marL="91440" marR="91440" marT="45720" marB="45720">
                    <a:solidFill>
                      <a:srgbClr val="29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Реализация</a:t>
                      </a:r>
                    </a:p>
                  </a:txBody>
                  <a:tcPr marL="91440" marR="91440" marT="45720" marB="45720">
                    <a:solidFill>
                      <a:srgbClr val="29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Проверка</a:t>
                      </a:r>
                    </a:p>
                  </a:txBody>
                  <a:tcPr marL="91440" marR="91440" marT="45720" marB="45720">
                    <a:solidFill>
                      <a:srgbClr val="29324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Канал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HTTPS, CA и имя сервера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Неверный CA отклоняется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Маршрут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/assets/sync/v1, static root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/agent и docs закрыты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Сеть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Management route вне контейнеров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Host / neighbor / Internet запрещены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Секреты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AES-GCM и RSA-OAEP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Нет пароля в outbox и stdout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Сенсоры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Индивидуальная mTLS identity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4F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Ротация + реальные 300 секунд</a:t>
                      </a:r>
                    </a:p>
                  </a:txBody>
                  <a:tcPr marL="91440" marR="91440" marT="45720" marB="45720">
                    <a:solidFill>
                      <a:srgbClr val="0C1120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79208-1880-460F-AE67-6F315E67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Отдельный путь, TLS и агент вне приманки. Абсолютную скрытность не обещаем.</a:t>
            </a:r>
          </a:p>
        </p:txBody>
      </p:sp>
    </p:spTree>
    <p:extLst>
      <p:ext uri="{BB962C8B-B14F-4D97-AF65-F5344CB8AC3E}">
        <p14:creationId xmlns:p14="http://schemas.microsoft.com/office/powerpoint/2010/main" val="5726449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3CE20-A18C-4259-A0DC-042237A3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Живой сценарий на Windows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017A6-3658-4BE6-8B21-1C942C18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Windows + Ubuntu VM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433D4-719D-4FCE-9963-BFDBC5FB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66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Low :2223 возвращает баннер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HTTP :18080 отвечает 200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SSH :2222 принимает команды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Затем: новое событие и сессия в панели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F5BFB-73C9-4933-896F-1A23C90C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rPr>
              <a:t>После удаления High из проекта и стенда Low/Medium проверены повторно; три ловушки running/succeeded.</a:t>
            </a:r>
          </a:p>
        </p:txBody>
      </p:sp>
    </p:spTree>
    <p:extLst>
      <p:ext uri="{BB962C8B-B14F-4D97-AF65-F5344CB8AC3E}">
        <p14:creationId xmlns:p14="http://schemas.microsoft.com/office/powerpoint/2010/main" val="4763080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B9870-106F-45E7-8786-E387D82B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Итог по требованиям кейса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05B95-9CFD-4F96-AE61-59AF01FD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347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Профили, удалённый запуск и статусы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Low TCP и Medium HTTP/SSH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Двусторонний обмен и локальная очередь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События, сессии и интерфейс разбора</a:t>
            </a:r>
          </a:p>
          <a:p xmlns:a="http://schemas.openxmlformats.org/drawingml/2006/main">
            <a:pPr>
              <a:buNone/>
              <a:def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2F4F7"/>
                </a:solidFill>
                <a:latin typeface="Helvetica Neue"/>
                <a:ea typeface="Helvetica Neue"/>
                <a:cs typeface="Helvetica Neue"/>
              </a:rPr>
              <a:t>Маскировка управляющего канала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39FBA-ADED-46B6-A130-35E6CD55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78BFA"/>
                </a:solidFill>
                <a:latin typeface="Helvetica Neue"/>
                <a:ea typeface="Helvetica Neue"/>
                <a:cs typeface="Helvetica Neue"/>
              </a:rPr>
              <a:t>Далее: внешнее развёртывание и проверка масштаба.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B195A-F4B8-4FA0-8165-C59BB5F6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A4AEBD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850819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2026-10-16T08:23:31.6630000Z</dcterms:created>
  <dcterms:modified xsi:type="dcterms:W3CDTF">2026-10-16T08:23:31.6630000Z</dcterms:modified>
</coreProperties>
</file>